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  <a:latin typeface="Calibri"/>
              </a:defRPr>
            </a:pPr>
            <a:r>
              <a:t>TITANIC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00CEC9"/>
                </a:solidFill>
                <a:latin typeface="Calibri"/>
              </a:defRPr>
            </a:pPr>
            <a:r>
              <a:t>Data Analysis Project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474720"/>
            <a:ext cx="2133295" cy="36576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Иода Алексей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0A5AF"/>
                </a:solidFill>
                <a:latin typeface="Calibri"/>
              </a:defRPr>
            </a:pPr>
            <a:r>
              <a:t>JA-группа |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0A5AF"/>
                </a:solidFill>
                <a:latin typeface="Calibri"/>
              </a:defRPr>
            </a:pPr>
            <a:r>
              <a:t>Датасет: Titanic (крушение 1912) • 891 пассажир • 15 признаков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828800" cy="54864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12529"/>
                </a:solidFill>
                <a:latin typeface="Calibri"/>
              </a:defRPr>
            </a:pPr>
            <a:r>
              <a:t>Объект исследования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34747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50800" dist="12700" dir="27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12529"/>
                </a:solidFill>
                <a:latin typeface="Calibri"/>
              </a:defRPr>
            </a:pPr>
            <a:r>
              <a:t>📊 Размер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2529"/>
                </a:solidFill>
                <a:latin typeface="Calibri"/>
              </a:defRPr>
            </a:pPr>
            <a:r>
              <a:t>891 строк</a:t>
            </a:r>
          </a:p>
          <a:p>
            <a:pPr>
              <a:spcAft>
                <a:spcPts val="1200"/>
              </a:spcAft>
              <a:defRPr sz="2000">
                <a:solidFill>
                  <a:srgbClr val="212529"/>
                </a:solidFill>
                <a:latin typeface="Calibri"/>
              </a:defRPr>
            </a:pPr>
            <a:r>
              <a:t>15 столбцов</a:t>
            </a:r>
          </a:p>
          <a:p>
            <a:pPr>
              <a:spcAft>
                <a:spcPts val="1200"/>
              </a:spcAft>
              <a:defRPr sz="2000">
                <a:solidFill>
                  <a:srgbClr val="212529"/>
                </a:solidFill>
                <a:latin typeface="Calibri"/>
              </a:defRPr>
            </a:pPr>
            <a:r>
              <a:t>6 числовых признаков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4747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50800" dist="12700" dir="27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8288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12529"/>
                </a:solidFill>
                <a:latin typeface="Calibri"/>
              </a:defRPr>
            </a:pPr>
            <a:r>
              <a:t>🎯 Цель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37744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2529"/>
                </a:solidFill>
                <a:latin typeface="Calibri"/>
              </a:defRPr>
            </a:pPr>
            <a:r>
              <a:t>Предсказание выживания</a:t>
            </a:r>
          </a:p>
          <a:p>
            <a:pPr>
              <a:spcAft>
                <a:spcPts val="1200"/>
              </a:spcAft>
              <a:defRPr sz="2000">
                <a:solidFill>
                  <a:srgbClr val="212529"/>
                </a:solidFill>
                <a:latin typeface="Calibri"/>
              </a:defRPr>
            </a:pPr>
            <a:r>
              <a:t>Выявление факторов</a:t>
            </a:r>
          </a:p>
          <a:p>
            <a:pPr>
              <a:spcAft>
                <a:spcPts val="1200"/>
              </a:spcAft>
              <a:defRPr sz="2000">
                <a:solidFill>
                  <a:srgbClr val="212529"/>
                </a:solidFill>
                <a:latin typeface="Calibri"/>
              </a:defRPr>
            </a:pPr>
            <a:r>
              <a:t>Стат. анализ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1645920"/>
            <a:ext cx="34747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50800" dist="12700" dir="27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0" y="18288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12529"/>
                </a:solidFill>
                <a:latin typeface="Calibri"/>
              </a:defRPr>
            </a:pPr>
            <a:r>
              <a:t>🔍 Методы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237744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2529"/>
                </a:solidFill>
                <a:latin typeface="Calibri"/>
              </a:defRPr>
            </a:pPr>
            <a:r>
              <a:t>PCA</a:t>
            </a:r>
          </a:p>
          <a:p>
            <a:pPr>
              <a:spcAft>
                <a:spcPts val="1200"/>
              </a:spcAft>
              <a:defRPr sz="2000">
                <a:solidFill>
                  <a:srgbClr val="212529"/>
                </a:solidFill>
                <a:latin typeface="Calibri"/>
              </a:defRPr>
            </a:pPr>
            <a:r>
              <a:t>KMeans</a:t>
            </a:r>
          </a:p>
          <a:p>
            <a:pPr>
              <a:spcAft>
                <a:spcPts val="1200"/>
              </a:spcAft>
              <a:defRPr sz="2000">
                <a:solidFill>
                  <a:srgbClr val="212529"/>
                </a:solidFill>
                <a:latin typeface="Calibri"/>
              </a:defRPr>
            </a:pPr>
            <a:r>
              <a:t>10 гипотез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389120"/>
            <a:ext cx="11247120" cy="2011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50800" dist="12700" dir="27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57200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ED573"/>
                </a:solidFill>
                <a:latin typeface="Calibri"/>
              </a:defRPr>
            </a:pPr>
            <a:r>
              <a:t>✓ Источник: Seaborn библиотека (оригинал — Kaggle)</a:t>
            </a:r>
          </a:p>
          <a:p>
            <a:pPr>
              <a:spcAft>
                <a:spcPts val="1200"/>
              </a:spcAft>
              <a:defRPr sz="2200">
                <a:solidFill>
                  <a:srgbClr val="2ED573"/>
                </a:solidFill>
                <a:latin typeface="Calibri"/>
              </a:defRPr>
            </a:pPr>
            <a:r>
              <a:t>✓ Целевая переменная: Survived (0 = погиб, 1 = выжил)</a:t>
            </a:r>
          </a:p>
          <a:p>
            <a:pPr>
              <a:spcAft>
                <a:spcPts val="1200"/>
              </a:spcAft>
              <a:defRPr sz="2200">
                <a:solidFill>
                  <a:srgbClr val="2ED573"/>
                </a:solidFill>
                <a:latin typeface="Calibri"/>
              </a:defRPr>
            </a:pPr>
            <a:r>
              <a:t>✓ Признаки: класс, пол, возраст, стоимость билета, порт посадки, семья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828800" cy="54864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12529"/>
                </a:solidFill>
                <a:latin typeface="Calibri"/>
              </a:defRPr>
            </a:pPr>
            <a:r>
              <a:t>Описательная статистика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5486400" cy="4754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50800" dist="12700" dir="27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49377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Calibri"/>
              </a:defRPr>
            </a:pPr>
            <a:r>
              <a:t>📌 Средний возраст пассажира: 29.7 лет</a:t>
            </a:r>
          </a:p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Calibri"/>
              </a:defRPr>
            </a:pPr>
            <a:r>
              <a:t>📌 Средняя стоимость билета: $32.20</a:t>
            </a:r>
          </a:p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Calibri"/>
              </a:defRPr>
            </a:pPr>
            <a:r>
              <a:t>📌 Мужчин: 577 (64.8%) | Женщин: 314 (35.2%)</a:t>
            </a:r>
          </a:p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Calibri"/>
              </a:defRPr>
            </a:pPr>
            <a:r>
              <a:t>📌 3 класс — 491 чел. (55.1%) | 1 класс — 216 (24.2%)</a:t>
            </a:r>
          </a:p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Calibri"/>
              </a:defRPr>
            </a:pPr>
            <a:r>
              <a:t>📌 Выжило: 342 (38.4%) | Погибло: 549 (61.6%)</a:t>
            </a:r>
          </a:p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Calibri"/>
              </a:defRPr>
            </a:pPr>
            <a:r>
              <a:t>⚠️ Пропуски: age (177), deck (688), embarked (2)</a:t>
            </a:r>
          </a:p>
        </p:txBody>
      </p:sp>
      <p:pic>
        <p:nvPicPr>
          <p:cNvPr id="6" name="Picture 5" descr="6_p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5029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828800" cy="54864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12529"/>
                </a:solidFill>
                <a:latin typeface="Calibri"/>
              </a:defRPr>
            </a:pPr>
            <a:r>
              <a:t>Визуальный анализ</a:t>
            </a:r>
          </a:p>
        </p:txBody>
      </p:sp>
      <p:pic>
        <p:nvPicPr>
          <p:cNvPr id="4" name="Picture 3" descr="1_histogr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5486400" cy="2743200"/>
          </a:xfrm>
          <a:prstGeom prst="rect">
            <a:avLst/>
          </a:prstGeom>
        </p:spPr>
      </p:pic>
      <p:pic>
        <p:nvPicPr>
          <p:cNvPr id="5" name="Picture 4" descr="2_boxplo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645920"/>
            <a:ext cx="5303520" cy="27432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4754880"/>
            <a:ext cx="5029200" cy="1645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50800" dist="12700" dir="27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93776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2ED573"/>
                </a:solidFill>
                <a:latin typeface="Calibri"/>
              </a:defRPr>
            </a:pPr>
            <a:r>
              <a:t>✓ Возраст: нормальное распределение (20-38 лет)</a:t>
            </a:r>
          </a:p>
          <a:p>
            <a:pPr>
              <a:spcAft>
                <a:spcPts val="400"/>
              </a:spcAft>
              <a:defRPr sz="1800">
                <a:solidFill>
                  <a:srgbClr val="2ED573"/>
                </a:solidFill>
                <a:latin typeface="Calibri"/>
              </a:defRPr>
            </a:pPr>
            <a:r>
              <a:t>✓ Fare: сильный перекос (большинство ≤ $50)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4754880"/>
            <a:ext cx="5760720" cy="1645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50800" dist="12700" dir="27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4937760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2ED573"/>
                </a:solidFill>
                <a:latin typeface="Calibri"/>
              </a:defRPr>
            </a:pPr>
            <a:r>
              <a:t>✓ Box Plot: 13% выбросов по стоимости билета</a:t>
            </a:r>
          </a:p>
          <a:p>
            <a:pPr>
              <a:spcAft>
                <a:spcPts val="400"/>
              </a:spcAft>
              <a:defRPr sz="1800">
                <a:solidFill>
                  <a:srgbClr val="2ED573"/>
                </a:solidFill>
                <a:latin typeface="Calibri"/>
              </a:defRPr>
            </a:pPr>
            <a:r>
              <a:t>✓ Корреляция: fare +0.26, pclass -0.34 с survived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828800" cy="54864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12529"/>
                </a:solidFill>
                <a:latin typeface="Calibri"/>
              </a:defRPr>
            </a:pPr>
            <a:r>
              <a:t>Проверка гипотез (часть 1)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11247120" cy="4754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50800" dist="12700" dir="27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>
                <a:solidFill>
                  <a:srgbClr val="212529"/>
                </a:solidFill>
                <a:latin typeface="Calibri"/>
              </a:defRPr>
            </a:pPr>
            <a:r>
              <a:t>1️⃣ Средний возраст = 30 лет?</a:t>
            </a:r>
          </a:p>
          <a:p>
            <a:pPr>
              <a:spcAft>
                <a:spcPts val="400"/>
              </a:spcAft>
              <a:defRPr sz="2000">
                <a:solidFill>
                  <a:srgbClr val="212529"/>
                </a:solidFill>
                <a:latin typeface="Calibri"/>
              </a:defRPr>
            </a:pPr>
            <a:r>
              <a:t>   → One-Sample t-test, t=-0.55, p=0.58 → H₀ ПРИНЯТА (возраст ≈ 30)</a:t>
            </a:r>
          </a:p>
          <a:p>
            <a:pPr>
              <a:spcAft>
                <a:spcPts val="400"/>
              </a:spcAft>
              <a:defRPr sz="2000">
                <a:solidFill>
                  <a:srgbClr val="212529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>
                <a:solidFill>
                  <a:srgbClr val="212529"/>
                </a:solidFill>
                <a:latin typeface="Calibri"/>
              </a:defRPr>
            </a:pPr>
            <a:r>
              <a:t>2️⃣ Возраст мужчин ≠ возраст женщин?</a:t>
            </a:r>
          </a:p>
          <a:p>
            <a:pPr>
              <a:spcAft>
                <a:spcPts val="400"/>
              </a:spcAft>
              <a:defRPr sz="2000">
                <a:solidFill>
                  <a:srgbClr val="212529"/>
                </a:solidFill>
                <a:latin typeface="Calibri"/>
              </a:defRPr>
            </a:pPr>
            <a:r>
              <a:t>   → Two-Sample t-test, t=2.50, p=0.013 → H₀ ОТКЛОНЕНА (мужчины старше)</a:t>
            </a:r>
          </a:p>
          <a:p>
            <a:pPr>
              <a:spcAft>
                <a:spcPts val="400"/>
              </a:spcAft>
              <a:defRPr sz="2000">
                <a:solidFill>
                  <a:srgbClr val="212529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>
                <a:solidFill>
                  <a:srgbClr val="212529"/>
                </a:solidFill>
                <a:latin typeface="Calibri"/>
              </a:defRPr>
            </a:pPr>
            <a:r>
              <a:t>3️⃣ Количество сиблингов = количество родителей?</a:t>
            </a:r>
          </a:p>
          <a:p>
            <a:pPr>
              <a:spcAft>
                <a:spcPts val="400"/>
              </a:spcAft>
              <a:defRPr sz="2000">
                <a:solidFill>
                  <a:srgbClr val="212529"/>
                </a:solidFill>
                <a:latin typeface="Calibri"/>
              </a:defRPr>
            </a:pPr>
            <a:r>
              <a:t>   → Paired t-test, t=3.97, p=0.0001 → H₀ ОТКЛОНЕНА (разные величины)</a:t>
            </a:r>
          </a:p>
          <a:p>
            <a:pPr>
              <a:spcAft>
                <a:spcPts val="400"/>
              </a:spcAft>
              <a:defRPr sz="2000">
                <a:solidFill>
                  <a:srgbClr val="212529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>
                <a:solidFill>
                  <a:srgbClr val="212529"/>
                </a:solidFill>
                <a:latin typeface="Calibri"/>
              </a:defRPr>
            </a:pPr>
            <a:r>
              <a:t>4️⃣ Средняя стоимость билета = $32?</a:t>
            </a:r>
          </a:p>
          <a:p>
            <a:pPr>
              <a:spcAft>
                <a:spcPts val="400"/>
              </a:spcAft>
              <a:defRPr sz="2000">
                <a:solidFill>
                  <a:srgbClr val="212529"/>
                </a:solidFill>
                <a:latin typeface="Calibri"/>
              </a:defRPr>
            </a:pPr>
            <a:r>
              <a:t>   → One-Sample z-test, z=0.12, p=0.90 → H₀ ПРИНЯТА (fare ≈ $32)</a:t>
            </a:r>
          </a:p>
          <a:p>
            <a:pPr>
              <a:spcAft>
                <a:spcPts val="400"/>
              </a:spcAft>
              <a:defRPr sz="2000">
                <a:solidFill>
                  <a:srgbClr val="212529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>
                <a:solidFill>
                  <a:srgbClr val="212529"/>
                </a:solidFill>
                <a:latin typeface="Calibri"/>
              </a:defRPr>
            </a:pPr>
            <a:r>
              <a:t>5️⃣ Возраст различается по классам?</a:t>
            </a:r>
          </a:p>
          <a:p>
            <a:pPr>
              <a:spcAft>
                <a:spcPts val="400"/>
              </a:spcAft>
              <a:defRPr sz="2000">
                <a:solidFill>
                  <a:srgbClr val="212529"/>
                </a:solidFill>
                <a:latin typeface="Calibri"/>
              </a:defRPr>
            </a:pPr>
            <a:r>
              <a:t>   → ANOVA, F=57.44, p=0.0000 → H₀ ОТКЛОНЕНА (классы ≠ возраст)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828800" cy="54864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12529"/>
                </a:solidFill>
                <a:latin typeface="Calibri"/>
              </a:defRPr>
            </a:pPr>
            <a:r>
              <a:t>Проверка гипотез (часть 2)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11247120" cy="4754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50800" dist="12700" dir="27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>
                <a:solidFill>
                  <a:srgbClr val="212529"/>
                </a:solidFill>
                <a:latin typeface="Calibri"/>
              </a:defRPr>
            </a:pPr>
            <a:r>
              <a:t>6️⃣ Пол и выживание — зависимы?</a:t>
            </a:r>
          </a:p>
          <a:p>
            <a:pPr>
              <a:spcAft>
                <a:spcPts val="400"/>
              </a:spcAft>
              <a:defRPr sz="2000">
                <a:solidFill>
                  <a:srgbClr val="212529"/>
                </a:solidFill>
                <a:latin typeface="Calibri"/>
              </a:defRPr>
            </a:pPr>
            <a:r>
              <a:t>   → Chi² = 260.72, p=0.0000 → ДА (женщины выживают чаще) 🔴</a:t>
            </a:r>
          </a:p>
          <a:p>
            <a:pPr>
              <a:spcAft>
                <a:spcPts val="400"/>
              </a:spcAft>
              <a:defRPr sz="2000">
                <a:solidFill>
                  <a:srgbClr val="212529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>
                <a:solidFill>
                  <a:srgbClr val="212529"/>
                </a:solidFill>
                <a:latin typeface="Calibri"/>
              </a:defRPr>
            </a:pPr>
            <a:r>
              <a:t>7️⃣ Класс и выживание — зависимы?</a:t>
            </a:r>
          </a:p>
          <a:p>
            <a:pPr>
              <a:spcAft>
                <a:spcPts val="400"/>
              </a:spcAft>
              <a:defRPr sz="2000">
                <a:solidFill>
                  <a:srgbClr val="212529"/>
                </a:solidFill>
                <a:latin typeface="Calibri"/>
              </a:defRPr>
            </a:pPr>
            <a:r>
              <a:t>   → Chi² = 102.89, p=0.0000 → ДА (1 класс выживает чаще) 🔴</a:t>
            </a:r>
          </a:p>
          <a:p>
            <a:pPr>
              <a:spcAft>
                <a:spcPts val="400"/>
              </a:spcAft>
              <a:defRPr sz="2000">
                <a:solidFill>
                  <a:srgbClr val="212529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>
                <a:solidFill>
                  <a:srgbClr val="212529"/>
                </a:solidFill>
                <a:latin typeface="Calibri"/>
              </a:defRPr>
            </a:pPr>
            <a:r>
              <a:t>8️⃣ Стоимость билета выживших &gt; погибших?</a:t>
            </a:r>
          </a:p>
          <a:p>
            <a:pPr>
              <a:spcAft>
                <a:spcPts val="400"/>
              </a:spcAft>
              <a:defRPr sz="2000">
                <a:solidFill>
                  <a:srgbClr val="212529"/>
                </a:solidFill>
                <a:latin typeface="Calibri"/>
              </a:defRPr>
            </a:pPr>
            <a:r>
              <a:t>   → Two-Sample t-test, t=7.94, p=0.0000 → ДА (выжившие платили больше) 🔴</a:t>
            </a:r>
          </a:p>
          <a:p>
            <a:pPr>
              <a:spcAft>
                <a:spcPts val="400"/>
              </a:spcAft>
              <a:defRPr sz="2000">
                <a:solidFill>
                  <a:srgbClr val="212529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>
                <a:solidFill>
                  <a:srgbClr val="212529"/>
                </a:solidFill>
                <a:latin typeface="Calibri"/>
              </a:defRPr>
            </a:pPr>
            <a:r>
              <a:t>9️⃣ Порт посадки влияет на выживание?</a:t>
            </a:r>
          </a:p>
          <a:p>
            <a:pPr>
              <a:spcAft>
                <a:spcPts val="400"/>
              </a:spcAft>
              <a:defRPr sz="2000">
                <a:solidFill>
                  <a:srgbClr val="212529"/>
                </a:solidFill>
                <a:latin typeface="Calibri"/>
              </a:defRPr>
            </a:pPr>
            <a:r>
              <a:t>   → Chi² = 26.49, p=0.0000 → ДА (порт связан с классом) 🔴</a:t>
            </a:r>
          </a:p>
          <a:p>
            <a:pPr>
              <a:spcAft>
                <a:spcPts val="400"/>
              </a:spcAft>
              <a:defRPr sz="2000">
                <a:solidFill>
                  <a:srgbClr val="212529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>
                <a:solidFill>
                  <a:srgbClr val="212529"/>
                </a:solidFill>
                <a:latin typeface="Calibri"/>
              </a:defRPr>
            </a:pPr>
            <a:r>
              <a:t>🔟 Средняя стоимость билета = $50?</a:t>
            </a:r>
          </a:p>
          <a:p>
            <a:pPr>
              <a:spcAft>
                <a:spcPts val="400"/>
              </a:spcAft>
              <a:defRPr sz="2000">
                <a:solidFill>
                  <a:srgbClr val="212529"/>
                </a:solidFill>
                <a:latin typeface="Calibri"/>
              </a:defRPr>
            </a:pPr>
            <a:r>
              <a:t>   → One-Sample t-test, t=-10.69, p=0.0000 → НЕТ (реально $32)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828800" cy="54864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12529"/>
                </a:solidFill>
                <a:latin typeface="Calibri"/>
              </a:defRPr>
            </a:pPr>
            <a:r>
              <a:t>Корреляционный анализ</a:t>
            </a:r>
          </a:p>
        </p:txBody>
      </p:sp>
      <p:pic>
        <p:nvPicPr>
          <p:cNvPr id="4" name="Picture 3" descr="7_correla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6400800" cy="47548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0" y="1645920"/>
            <a:ext cx="4389120" cy="4754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50800" dist="12700" dir="27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0" y="182880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>
                <a:solidFill>
                  <a:srgbClr val="212529"/>
                </a:solidFill>
                <a:latin typeface="Calibri"/>
              </a:defRPr>
            </a:pPr>
            <a:r>
              <a:t>Корреляция с выживанием:</a:t>
            </a:r>
          </a:p>
          <a:p>
            <a:pPr>
              <a:spcAft>
                <a:spcPts val="400"/>
              </a:spcAft>
              <a:defRPr sz="2000">
                <a:solidFill>
                  <a:srgbClr val="212529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>
                <a:solidFill>
                  <a:srgbClr val="2ED573"/>
                </a:solidFill>
                <a:latin typeface="Calibri"/>
              </a:defRPr>
            </a:pPr>
            <a:r>
              <a:t>✓ Fare: +0.26</a:t>
            </a:r>
          </a:p>
          <a:p>
            <a:pPr>
              <a:spcAft>
                <a:spcPts val="400"/>
              </a:spcAft>
              <a:defRPr sz="2000">
                <a:solidFill>
                  <a:srgbClr val="212529"/>
                </a:solidFill>
                <a:latin typeface="Calibri"/>
              </a:defRPr>
            </a:pPr>
            <a:r>
              <a:t>  (дороже билет → выше шанс)</a:t>
            </a:r>
          </a:p>
          <a:p>
            <a:pPr>
              <a:spcAft>
                <a:spcPts val="400"/>
              </a:spcAft>
              <a:defRPr sz="2000">
                <a:solidFill>
                  <a:srgbClr val="212529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>
                <a:solidFill>
                  <a:srgbClr val="FF6B6B"/>
                </a:solidFill>
                <a:latin typeface="Calibri"/>
              </a:defRPr>
            </a:pPr>
            <a:r>
              <a:t>✗ Pclass: -0.34</a:t>
            </a:r>
          </a:p>
          <a:p>
            <a:pPr>
              <a:spcAft>
                <a:spcPts val="400"/>
              </a:spcAft>
              <a:defRPr sz="2000">
                <a:solidFill>
                  <a:srgbClr val="212529"/>
                </a:solidFill>
                <a:latin typeface="Calibri"/>
              </a:defRPr>
            </a:pPr>
            <a:r>
              <a:t>  (ниже класс → ниже шанс)</a:t>
            </a:r>
          </a:p>
          <a:p>
            <a:pPr>
              <a:spcAft>
                <a:spcPts val="400"/>
              </a:spcAft>
              <a:defRPr sz="2000">
                <a:solidFill>
                  <a:srgbClr val="212529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>
                <a:solidFill>
                  <a:srgbClr val="212529"/>
                </a:solidFill>
                <a:latin typeface="Calibri"/>
              </a:defRPr>
            </a:pPr>
            <a:r>
              <a:t>○ Age: -0.08</a:t>
            </a:r>
          </a:p>
          <a:p>
            <a:pPr>
              <a:spcAft>
                <a:spcPts val="400"/>
              </a:spcAft>
              <a:defRPr sz="2000">
                <a:solidFill>
                  <a:srgbClr val="212529"/>
                </a:solidFill>
                <a:latin typeface="Calibri"/>
              </a:defRPr>
            </a:pPr>
            <a:r>
              <a:t>  (возраст почти не влияет)</a:t>
            </a:r>
          </a:p>
          <a:p>
            <a:pPr>
              <a:spcAft>
                <a:spcPts val="400"/>
              </a:spcAft>
              <a:defRPr sz="2000">
                <a:solidFill>
                  <a:srgbClr val="212529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>
                <a:solidFill>
                  <a:srgbClr val="212529"/>
                </a:solidFill>
                <a:latin typeface="Calibri"/>
              </a:defRPr>
            </a:pPr>
            <a:r>
              <a:t>Вывод: социальный статус</a:t>
            </a:r>
          </a:p>
          <a:p>
            <a:pPr>
              <a:spcAft>
                <a:spcPts val="400"/>
              </a:spcAft>
              <a:defRPr sz="2000">
                <a:solidFill>
                  <a:srgbClr val="212529"/>
                </a:solidFill>
                <a:latin typeface="Calibri"/>
              </a:defRPr>
            </a:pPr>
            <a:r>
              <a:t>важнее возраста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828800" cy="54864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12529"/>
                </a:solidFill>
                <a:latin typeface="Calibri"/>
              </a:defRPr>
            </a:pPr>
            <a:r>
              <a:t>PCA — снижение размерности</a:t>
            </a:r>
          </a:p>
        </p:txBody>
      </p:sp>
      <p:pic>
        <p:nvPicPr>
          <p:cNvPr id="4" name="Picture 3" descr="8_pca_vari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5486400" cy="2560320"/>
          </a:xfrm>
          <a:prstGeom prst="rect">
            <a:avLst/>
          </a:prstGeom>
        </p:spPr>
      </p:pic>
      <p:pic>
        <p:nvPicPr>
          <p:cNvPr id="5" name="Picture 4" descr="9_pca_proje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645920"/>
            <a:ext cx="5303520" cy="25603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4572000"/>
            <a:ext cx="502920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50800" dist="12700" dir="27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4572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  <a:latin typeface="Calibri"/>
              </a:defRPr>
            </a:pPr>
            <a:r>
              <a:t>📊 5 компонент = 90% информации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  <a:latin typeface="Calibri"/>
              </a:defRPr>
            </a:pPr>
            <a:r>
              <a:t>📊 PC1+PC2 = 58.7% дисперсии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4572000"/>
            <a:ext cx="57607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50800" dist="12700" dir="27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4754880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  <a:latin typeface="Calibri"/>
              </a:defRPr>
            </a:pPr>
            <a:r>
              <a:t>🔵 Проекция: разделение по выживаемости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  <a:latin typeface="Calibri"/>
              </a:defRPr>
            </a:pPr>
            <a:r>
              <a:t>🔵 PCA подтверждает структуру данных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828800" cy="54864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12529"/>
                </a:solidFill>
                <a:latin typeface="Calibri"/>
              </a:defRPr>
            </a:pPr>
            <a:r>
              <a:t>KMeans кластеризация</a:t>
            </a:r>
          </a:p>
        </p:txBody>
      </p:sp>
      <p:pic>
        <p:nvPicPr>
          <p:cNvPr id="4" name="Picture 3" descr="10_kmeans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6400800" cy="45720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0" y="1645920"/>
            <a:ext cx="4389120" cy="4754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50800" dist="12700" dir="27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0" y="182880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>
                <a:solidFill>
                  <a:srgbClr val="212529"/>
                </a:solidFill>
                <a:latin typeface="Calibri"/>
              </a:defRPr>
            </a:pPr>
            <a:r>
              <a:t>KMeans, k=2 на PCA-данных</a:t>
            </a:r>
          </a:p>
          <a:p>
            <a:pPr>
              <a:spcAft>
                <a:spcPts val="400"/>
              </a:spcAft>
              <a:defRPr sz="2000">
                <a:solidFill>
                  <a:srgbClr val="212529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>
                <a:solidFill>
                  <a:srgbClr val="212529"/>
                </a:solidFill>
                <a:latin typeface="Calibri"/>
              </a:defRPr>
            </a:pPr>
            <a:r>
              <a:t>Кластер 0:</a:t>
            </a:r>
          </a:p>
          <a:p>
            <a:pPr>
              <a:spcAft>
                <a:spcPts val="400"/>
              </a:spcAft>
              <a:defRPr sz="2000">
                <a:solidFill>
                  <a:srgbClr val="212529"/>
                </a:solidFill>
                <a:latin typeface="Calibri"/>
              </a:defRPr>
            </a:pPr>
            <a:r>
              <a:t>   342 погибших + 144 выживших</a:t>
            </a:r>
          </a:p>
          <a:p>
            <a:pPr>
              <a:spcAft>
                <a:spcPts val="400"/>
              </a:spcAft>
              <a:defRPr sz="2000">
                <a:solidFill>
                  <a:srgbClr val="212529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>
                <a:solidFill>
                  <a:srgbClr val="212529"/>
                </a:solidFill>
                <a:latin typeface="Calibri"/>
              </a:defRPr>
            </a:pPr>
            <a:r>
              <a:t>Кластер 1:</a:t>
            </a:r>
          </a:p>
          <a:p>
            <a:pPr>
              <a:spcAft>
                <a:spcPts val="400"/>
              </a:spcAft>
              <a:defRPr sz="2000">
                <a:solidFill>
                  <a:srgbClr val="212529"/>
                </a:solidFill>
                <a:latin typeface="Calibri"/>
              </a:defRPr>
            </a:pPr>
            <a:r>
              <a:t>   82 погибших + 146 выживших</a:t>
            </a:r>
          </a:p>
          <a:p>
            <a:pPr>
              <a:spcAft>
                <a:spcPts val="400"/>
              </a:spcAft>
              <a:defRPr sz="2000">
                <a:solidFill>
                  <a:srgbClr val="212529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>
                <a:solidFill>
                  <a:srgbClr val="212529"/>
                </a:solidFill>
                <a:latin typeface="Calibri"/>
              </a:defRPr>
            </a:pPr>
            <a:r>
              <a:t>Социальное расслоение →</a:t>
            </a:r>
          </a:p>
          <a:p>
            <a:pPr>
              <a:spcAft>
                <a:spcPts val="400"/>
              </a:spcAft>
              <a:defRPr sz="2000">
                <a:solidFill>
                  <a:srgbClr val="212529"/>
                </a:solidFill>
                <a:latin typeface="Calibri"/>
              </a:defRPr>
            </a:pPr>
            <a:r>
              <a:t>2 группы пассажиров</a:t>
            </a:r>
          </a:p>
          <a:p>
            <a:pPr>
              <a:spcAft>
                <a:spcPts val="400"/>
              </a:spcAft>
              <a:defRPr sz="2000">
                <a:solidFill>
                  <a:srgbClr val="212529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>
                <a:solidFill>
                  <a:srgbClr val="212529"/>
                </a:solidFill>
                <a:latin typeface="Calibri"/>
              </a:defRPr>
            </a:pPr>
            <a:r>
              <a:t>Кластеры коррелируют</a:t>
            </a:r>
          </a:p>
          <a:p>
            <a:pPr>
              <a:spcAft>
                <a:spcPts val="400"/>
              </a:spcAft>
              <a:defRPr sz="2000">
                <a:solidFill>
                  <a:srgbClr val="212529"/>
                </a:solidFill>
                <a:latin typeface="Calibri"/>
              </a:defRPr>
            </a:pPr>
            <a:r>
              <a:t>с выживаемостью ✅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828800" cy="54864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12529"/>
                </a:solidFill>
                <a:latin typeface="Calibri"/>
              </a:defRPr>
            </a:pPr>
            <a:r>
              <a:t>Выживаемость: пол + класс</a:t>
            </a:r>
          </a:p>
        </p:txBody>
      </p:sp>
      <p:pic>
        <p:nvPicPr>
          <p:cNvPr id="4" name="Picture 3" descr="5_cat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6858000" cy="45720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772400" y="1645920"/>
            <a:ext cx="3931920" cy="4754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50800" dist="12700" dir="27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0" y="1828800"/>
            <a:ext cx="3383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212529"/>
                </a:solidFill>
                <a:latin typeface="Calibri"/>
              </a:defRPr>
            </a:pPr>
            <a:r>
              <a:t>🔴 1 класс:</a:t>
            </a:r>
          </a:p>
          <a:p>
            <a:pPr>
              <a:spcAft>
                <a:spcPts val="600"/>
              </a:spcAft>
              <a:defRPr sz="2000">
                <a:solidFill>
                  <a:srgbClr val="212529"/>
                </a:solidFill>
                <a:latin typeface="Calibri"/>
              </a:defRPr>
            </a:pPr>
            <a:r>
              <a:t>   ~95% женщин выжили</a:t>
            </a:r>
          </a:p>
          <a:p>
            <a:pPr>
              <a:spcAft>
                <a:spcPts val="600"/>
              </a:spcAft>
              <a:defRPr sz="2000">
                <a:solidFill>
                  <a:srgbClr val="212529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212529"/>
                </a:solidFill>
                <a:latin typeface="Calibri"/>
              </a:defRPr>
            </a:pPr>
            <a:r>
              <a:t>🟡 2 класс:</a:t>
            </a:r>
          </a:p>
          <a:p>
            <a:pPr>
              <a:spcAft>
                <a:spcPts val="600"/>
              </a:spcAft>
              <a:defRPr sz="2000">
                <a:solidFill>
                  <a:srgbClr val="212529"/>
                </a:solidFill>
                <a:latin typeface="Calibri"/>
              </a:defRPr>
            </a:pPr>
            <a:r>
              <a:t>   ~90% женщин выжили</a:t>
            </a:r>
          </a:p>
          <a:p>
            <a:pPr>
              <a:spcAft>
                <a:spcPts val="600"/>
              </a:spcAft>
              <a:defRPr sz="2000">
                <a:solidFill>
                  <a:srgbClr val="212529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212529"/>
                </a:solidFill>
                <a:latin typeface="Calibri"/>
              </a:defRPr>
            </a:pPr>
            <a:r>
              <a:t>🟢 3 класс:</a:t>
            </a:r>
          </a:p>
          <a:p>
            <a:pPr>
              <a:spcAft>
                <a:spcPts val="600"/>
              </a:spcAft>
              <a:defRPr sz="2000">
                <a:solidFill>
                  <a:srgbClr val="212529"/>
                </a:solidFill>
                <a:latin typeface="Calibri"/>
              </a:defRPr>
            </a:pPr>
            <a:r>
              <a:t>   ~50% женщин выжили</a:t>
            </a:r>
          </a:p>
          <a:p>
            <a:pPr>
              <a:spcAft>
                <a:spcPts val="600"/>
              </a:spcAft>
              <a:defRPr sz="2000">
                <a:solidFill>
                  <a:srgbClr val="212529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212529"/>
                </a:solidFill>
                <a:latin typeface="Calibri"/>
              </a:defRPr>
            </a:pPr>
            <a:r>
              <a:t>Мужчины 3 класса:</a:t>
            </a:r>
          </a:p>
          <a:p>
            <a:pPr>
              <a:spcAft>
                <a:spcPts val="600"/>
              </a:spcAft>
              <a:defRPr sz="2000">
                <a:solidFill>
                  <a:srgbClr val="212529"/>
                </a:solidFill>
                <a:latin typeface="Calibri"/>
              </a:defRPr>
            </a:pPr>
            <a:r>
              <a:t>   &lt;15% выжили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Ключевые выводы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286000"/>
            <a:ext cx="11247120" cy="4114800"/>
          </a:xfrm>
          <a:prstGeom prst="roundRect">
            <a:avLst/>
          </a:prstGeom>
          <a:solidFill>
            <a:srgbClr val="1E1E3C"/>
          </a:solidFill>
          <a:ln>
            <a:noFill/>
          </a:ln>
          <a:effectLst>
            <a:outerShdw blurRad="50800" dist="12700" dir="27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  <a:latin typeface="Calibri"/>
              </a:defRPr>
            </a:pPr>
            <a:r>
              <a:t>✅ Проведена полная описательная статистика и визуализация данных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  <a:latin typeface="Calibri"/>
              </a:defRPr>
            </a:pPr>
            <a:r>
              <a:t>✅ Выполнены 10 статистических тестов (t-test, ANOVA, χ²)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  <a:latin typeface="Calibri"/>
              </a:defRPr>
            </a:pPr>
            <a:r>
              <a:t>✅ PCA — снижение размерности с 6 до 5 компонент (90% дисперсии)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  <a:latin typeface="Calibri"/>
              </a:defRPr>
            </a:pPr>
            <a:r>
              <a:t>✅ KMeans — кластеризация выявила 2 социальные группы пассажиров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  <a:latin typeface="Calibri"/>
              </a:defRPr>
            </a:pPr>
            <a:r>
              <a:t>🏆 Главное открытие: выживание на Титанике определялось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  <a:latin typeface="Calibri"/>
              </a:defRPr>
            </a:pPr>
            <a:r>
              <a:t>   ПОЛОМ и СОЦИАЛЬНЫМ СТАТУСОМ, а не возрастом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Calibri"/>
              </a:defRPr>
            </a:pPr>
            <a:r>
              <a:t>Спасибо за внимание!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200400"/>
            <a:ext cx="2133295" cy="36576"/>
          </a:xfrm>
          <a:prstGeom prst="rect">
            <a:avLst/>
          </a:prstGeom>
          <a:solidFill>
            <a:srgbClr val="00C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Иода Алексей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A0A5AF"/>
                </a:solidFill>
                <a:latin typeface="Calibri"/>
              </a:defRPr>
            </a:pPr>
            <a:r>
              <a:t>JA-группа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CEC9"/>
                </a:solidFill>
                <a:latin typeface="Calibri"/>
              </a:defRPr>
            </a:pPr>
            <a:r>
              <a:t>Вопросы?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